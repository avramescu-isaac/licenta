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Bună ziua, mă numesc Avramescu Isaac Sebastian, iar lucrarea mea de licență se numește CourseHub - o platformă web care conectează profesorii cu elevii. Coordonator: domnul conf. univ. dr. Marius Iulian Mihăilescu.
Anunță structura: o să merg pe slide-uri, iar pentru fiecare slide o să arăt direct în aplicație ce înseamnă.
DE PREGĂTIT ÎNAINTE: aplicația pornită, două browsere deschise (unul profesor, unul elev), plus un cont de admin logat într-o a treia fereastră.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Pornesc de la o observație simplă - un elev învață mult mai bine unu la unu cu profesorul potrivit, dar problema e cum îl găsește. Totul se rezolvă prin cunoștințe. Iar un profesor nu are unde să își facă un profil.
CourseHub nu e un magazin de cursuri înregistrate, ci un spațiu în care te înregistrezi ca profesor sau ca elev, cauți după criterii clare, te conectezi printr-un mecanism explicit de cerere și acceptare, și abia apoi comunici.
DE ARĂTAT ÎN APLICAȚIE:
- Pagina principală (Home), neautentificat - cum arată platforma pentru un vizitator.
- Comută limba RO / EN din bara de sus, ca să se vadă din primul minut că interfața e complet localizată și că merge fără autentificare.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Aplicația e construită pe ASP.NET Core 8, cu MVC pentru partea principală și Razor Pages pentru fluxurile de autentificare, respectând convenția șabloanelor oficiale Identity. Datele merg prin Entity Framework Core pe SQL Server.
Partea interesantă e că am două canale: cererile obișnuite merg HTTP către controllere, iar chat-ul are un canal separat, în timp real, prin SignalR peste WebSocket.
DE ARĂTAT ÎN APLICAȚIE (Visual Studio):
- Structura soluției: Models / Controllers / Views, directorul Services, Areas/Identity, Hubs/ChatHub.cs.
- Data/Migrations - lista de migrații, ca dovadă că schema e gestionată reproductibil.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Cinci entități proprii, peste tabelele standard generate de Identity. Denumirile din cod sunt în engleză - Topic pentru materie, HireRequest pentru cererea de colaborare.
Două decizii pe care le pot apăra:
1) BannedUntil e o singură dată nullable, nu un bool separat - null = neblocat, o dată din viitor = blocare temporară, DateTime.MaxValue = permanent. Verificarea devine mereu o singură comparație.
2) Legătura utilizator-materii e ținută la nivel de aplicație, printr-o listă de id-uri, pentru că un utilizator alege cel mult trei materii.
DE ARĂTAT ÎN APLICAȚIE:
- SQL Server Object Explorer: tabelele AspNetUsers, Messages, HireRequests, Topics, OtpCodes, AspNetRoles.
- Deschide Models/ApplicationUser.cs în Visual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Înregistrarea nu autentifică imediat utilizatorul. Formularul e protejat cu reCAPTCHA, verificat exclusiv pe server. După creare se generează un cod de 6 cifre, valabil 10 minute, trimis pe email, iar contul rămâne neconfirmat până la introducerea corectă a codului.
Detaliul de care sunt mulțumit: dacă cheia secretă lipsește, verificarea eșuează implicit - fail closed. E mai bine să blochezi înregistrările decât să le lași să treacă nevalidate.
DE ARĂTAT ÎN APLICAȚIE:
- Pagina de înregistrare, cu widget-ul reCAPTCHA.
- Trimite formularul fără să bifezi caseta - apare eroarea.
- Completează corect, arată emailul primit cu codul, apoi pagina de verificare OTP.
- Bonus: introdu un cod greșit ca să se vadă mesajul 'Cod invalid sau expirat'.
DOUĂ CAPCANE:
1. reCAPTCHA are nevoie de internet (apel către Google). Fără rețea în sală, nu faci înregistrare live - intri pe un cont existent și explici mecanismul.
2. OtpCleanupService șterge CONTUL, nu doar codul, dacă OTP-ul expiră neconfirmat. Dacă înregistrezi live, confirmă în mai puțin de 10 minute, altfel contul dispare în timpul prezentării.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Imediat după confirmarea contului, utilizatorul e dus într-un flux de completare a profilului, în trei pași. Rolul, apoi detaliile specifice rolului, apoi materiile - cel mult trei.
Aici e una dintre problemele pe care le-am descoperit testând: rolul ales la primul pas era folosit doar ca să decid ce câmpuri afișez, dar nu era transmis mai departe. La salvare, aplicația scria mereu în nivelul de predare. Am rezolvat printr-un câmp ascuns care duce rolul de la un pas la altul.
DE ARĂTAT ÎN APLICAȚIE:
- Parcurge wizardul cu contul tocmai creat: alege Elev, mergi la pasul 2 (se cere nivelul de studii), înapoi la pasul 1, alege Profesor - se schimbă în nivel de predare. Asta demonstrează exact bug-ul rezolvat.
- Mergi până la pasul 3 și apasă 'Înapoi': datele introduse la pasul 2 sunt păstrate.
- La pasul 3 încearcă să selectezi patru materii - apare limita de trei.
- Cât timp wizardul nu e terminat, bara de sus e goală: nu poți naviga nicăieri, iar dacă renunți, contul se șterge.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Căutarea permite filtrarea după nume, rol, nivel și materie, iar filtrele se combină. Un detaliu de implementare pe care îl recunosc: materiile sunt stocate ca listă de id-uri separate prin virgulă, iar filtrarea se face printr-o potrivire pe șir. Are două costuri - nu poate folosi un index și, dacă lista de materii ar trece de zece, căutarea după materia 1 ar returna și pe cei cu materia 10 sau 11. Cu cele șase materii de acum nu se manifestă, dar ăsta e prețul deciziei de a nu folosi o tabelă de legătură.
Conturile de administrator sunt excluse mereu din rezultate - un admin nu e profesor real.
Apoi mecanismul de conectare: elevul trimite o cerere, profesorul o acceptă sau o respinge, iar elevul o poate anula cât timp e în așteptare.
DE ARĂTAT ÎN APLICAȚIE:
- Pagina de căutare: filtrează după materie, apoi adaugă rolul și nivelul.
- Din contul de elev trimite o cerere de colaborare unui profesor.
- Încearcă a doua cerere către același profesor - apare mesajul că ai trimis deja.
- Treci pe contul de profesor, deschide pagina de cereri și acceptă.
- Arată lista de colaborări de pe ambele conturi.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Chat-ul e implementat cu SignalR. Hub-ul expune o singură metodă, SendMessage, care redirecționează mesajul instantaneu către destinatar. În paralel, clientul trimite mesajul și către un endpoint API care îl salvează în baza de date.
De ce două căi: dacă destinatarul nu e conectat, mesajul livrat prin SignalR s-ar pierde. Persistența separată face ca istoricul să rămână acolo oricum.
Fișierele pot fi atașate doar de profesori, iar restricția e aplicată pe server - revin la asta pe slide-ul de securitate.
DE ARĂTAT ÎN APLICAȚIE (două ferestre alăturate):
- Fereastra profesor și fereastra elev, deschise pe aceeași conversație.
- Trimite un mesaj dintr-o parte - apare instantaneu în cealaltă, fără refresh.
- Din contul de profesor atașează un fișier (PDF sau imagine).
- Arată indicatorul de mesaje necitite din bara de sus.
SignalR se încarcă local, din wwwroot/lib, deci demo-ul funcționează și fără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Panoul de administrare e restricționat prin atributul Authorize cu rolul Admin, aplicat la nivel de controller. Nu e o ascundere din interfață - framework-ul respinge cererea înainte de orice linie de cod.
Administratorul gestionează conturile, rolurile, blocările și materiile, și poate vedea mesajele trimise de orice utilizator, pentru moderare.
Partea de fiabilitate: un admin nu se poate bloca sau șterge pe sine, și niciun admin nu poate fi blocat sau șters de altul - altfel platforma ar putea rămâne fără niciun cont capabil să intre în panou.
DE ARĂTAT ÎN APLICAȚIE:
- Panoul de administrare, cu statisticile de pe prima pagină.
- Lista de utilizatori, cu rolurile reale afișate.
- Încearcă să te blochezi pe tine - apare mesajul de eroare.
- Blochează un cont de test, apoi încearcă să te autentifici cu el în altă fereastră.
- Pagina de materii: adaugă o materie și arată că apare imediat în căutare.
- Deschide lista de mesaje ale unui utilizator.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Pentru fiecare formular, încărcare de fișier și acțiune de administrare m-am întrebat același lucru: ce s-ar întâmpla dacă cineva ar apela-o direct, fără să treacă prin interfață?
De aici vin deciziile de securitate. Iar cele trei probleme de la final le-am găsit exact așa - încercând aplicația din poziția altui rol sau ocolind interfața.
DE ARĂTAT ÎN APLICAȚIE (partea cea mai convingătoare):
1. Loghează-te ca elev și scrie manual în bara de adrese o conversație cu un utilizator cu care NU colaborezi - serverul respinge cererea și ajungi pe pagina 'Acces interzis', localizată și în stilul aplicației. Comută limba pe EN ca să arăți că și pagina de refuz e tradusă.
2. Arată în cod verificarea din ChatController și faptul că aceeași condiție e repetată în endpoint-ul API.
3. Dacă ai timp: din contul de elev, apelează direct endpoint-ul de încărcare fișiere (Postman) - primești Forbidden, deși din interfață butonul nici nu apare.
4. Panoul de administrare accesat de pe un cont normal - respins de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CourseHub acoperă tot drumul unui utilizator - se înregistrează, își confirmă contul, își completează profilul, caută pe cineva potrivit, trimite o cerere de colaborare și, după ce e acceptată, discută în timp real și trimite fișiere. În spate există un sistem real de roluri Identity, iar toată interfața merge în română și în engleză.
Sunt și lucruri pe care nu am apucat să le fac, și le spun deschis: aplicația rulează pe o bază de date locală, notificările se iau prin interogare periodică, un fișier trimis se vede la celălalt abia după refresh, nu am scris teste automate, iar dacă blochez un cont deja autentificat, sesiunea lui rămâne activă până iese singur.
Dacă aș continua, aș începe cu testele automate, pentru că orice altceva devine riscant fără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SPUS: Vă mulțumesc pentru atenție. Rămân la dispoziție pentru întrebări.
ÎNTREBĂRI PROBABILE ȘI RĂSPUNSURI SCURTE:
- Ați corectat ChatHub-ul, cum ați recomandat? Nu, am lăsat codul în forma pe care ați evaluat-o. Problema o înțeleg și o pot descrie exact: hub-ul primește senderId de la client, nu îl înlocuiește cu Context.UserIdentifier, nu are [Authorize] și nu verifică existența unei colaborări acceptate. Practic, cineva poate livra în timp real un mesaj care pare venit de la alt cont - persistarea e protejată, livrarea nu. Reparația e mică: [Authorize] pe hub, expeditorul luat din context și aceeași verificare de colaborare pe care o am deja în ChatController și în endpoint-urile API.
- De ce SelectedTopics ca text, nu tabelă de legătură? Pentru că un utilizator alege cel mult trei materii, iar operațiile necesare sunt simple. E o decizie conștientă, documentată în lucrare. Costul îl recunosc: filtrarea devine o potrivire pe șir, care nu poate folosi un index și care, peste zece materii, ar confunda id-ul 1 cu 10 sau 11. Într-o versiune cu mai multe materii pe utilizator aș introduce tabela de legătură.
- De ce BannedUntil în loc de IsBanned? O singură dată nullable acoperă toate cazurile: null = neblocat, dată din viitor = temporar, DateTime.MaxValue = permanent. Verificarea e mereu o comparație.
- De ce două căi la trimiterea mesajului? SignalR livrează instant, dar dacă destinatarul nu e conectat mesajul s-ar pierde; endpoint-ul API garantează istoricul. Dacă livrarea reușește și persistarea eșuează, mesajul se vede pe ecran dar dispare la reîncărcare - ar trebui persistat întâi și livrat după.
- Ce se întâmplă dacă blochez un cont deja autentificat? Sesiunea rămâne activă până iese - e o limitare pe care o recunosc în lucrare și e prima pe lista de îmbunătățiri, alături de testele automate.
- Ai teste automate? Nu, testarea a fost manuală, structurată pe scenarii, cu un serviciu care generează datele de test în mediul de dezvoltare. Suita automată e prima direcție de dezvoltare.
- Cum ai creat primul cont de administrator? Prin AdminSeeding:Emails din configurație - la pornire, contul deja înregistrat cu acel email primește rolul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777240" y="731520"/>
            <a:ext cx="10607040" cy="274320"/>
          </a:xfrm>
          <a:prstGeom prst="rect">
            <a:avLst/>
          </a:prstGeom>
          <a:noFill/>
          <a:ln/>
        </p:spPr>
        <p:txBody>
          <a:bodyPr wrap="square" lIns="0" tIns="0" rIns="0" bIns="0" rtlCol="0" anchor="ctr"/>
          <a:lstStyle/>
          <a:p>
            <a:pPr indent="0" marL="0">
              <a:buNone/>
            </a:pPr>
            <a:r>
              <a:rPr lang="en-US" sz="1100" b="1" spc="100" kern="0" dirty="0">
                <a:solidFill>
                  <a:srgbClr val="9CA3AF"/>
                </a:solidFill>
                <a:latin typeface="Calibri" pitchFamily="34" charset="0"/>
                <a:ea typeface="Calibri" pitchFamily="34" charset="-122"/>
                <a:cs typeface="Calibri" pitchFamily="34" charset="-120"/>
              </a:rPr>
              <a:t>UNIVERSITATEA DIN BUCUREȘTI  ·  FACULTATEA DE MATEMATICĂ ȘI INFORMATICĂ</a:t>
            </a:r>
            <a:endParaRPr lang="en-US" sz="1100" dirty="0"/>
          </a:p>
        </p:txBody>
      </p:sp>
      <p:sp>
        <p:nvSpPr>
          <p:cNvPr id="3" name="Text 1"/>
          <p:cNvSpPr txBox="1"/>
          <p:nvPr/>
        </p:nvSpPr>
        <p:spPr>
          <a:xfrm>
            <a:off x="777240" y="2011680"/>
            <a:ext cx="1060704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CourseHub</a:t>
            </a:r>
            <a:endParaRPr lang="en-US" sz="5400" dirty="0"/>
          </a:p>
        </p:txBody>
      </p:sp>
      <p:sp>
        <p:nvSpPr>
          <p:cNvPr id="4" name="Text 2"/>
          <p:cNvSpPr txBox="1"/>
          <p:nvPr/>
        </p:nvSpPr>
        <p:spPr>
          <a:xfrm>
            <a:off x="777240" y="2971800"/>
            <a:ext cx="10607040" cy="411480"/>
          </a:xfrm>
          <a:prstGeom prst="rect">
            <a:avLst/>
          </a:prstGeom>
          <a:noFill/>
          <a:ln/>
        </p:spPr>
        <p:txBody>
          <a:bodyPr wrap="square" lIns="0" tIns="0" rIns="0" bIns="0" rtlCol="0" anchor="ctr"/>
          <a:lstStyle/>
          <a:p>
            <a:pPr indent="0" marL="0">
              <a:buNone/>
            </a:pPr>
            <a:r>
              <a:rPr lang="en-US" sz="2000" dirty="0">
                <a:solidFill>
                  <a:srgbClr val="60A5FA"/>
                </a:solidFill>
                <a:latin typeface="Calibri" pitchFamily="34" charset="0"/>
                <a:ea typeface="Calibri" pitchFamily="34" charset="-122"/>
                <a:cs typeface="Calibri" pitchFamily="34" charset="-120"/>
              </a:rPr>
              <a:t>Platformă web pentru conectarea profesorilor cu elevii</a:t>
            </a:r>
            <a:endParaRPr lang="en-US" sz="2000" dirty="0"/>
          </a:p>
        </p:txBody>
      </p:sp>
      <p:sp>
        <p:nvSpPr>
          <p:cNvPr id="5" name="Text 3"/>
          <p:cNvSpPr txBox="1"/>
          <p:nvPr/>
        </p:nvSpPr>
        <p:spPr>
          <a:xfrm>
            <a:off x="777240" y="3474720"/>
            <a:ext cx="1060704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Lucrare de licență  ·  septembrie 2026</a:t>
            </a:r>
            <a:endParaRPr lang="en-US" sz="1300" dirty="0"/>
          </a:p>
        </p:txBody>
      </p:sp>
      <p:sp>
        <p:nvSpPr>
          <p:cNvPr id="6" name="Text 4"/>
          <p:cNvSpPr txBox="1"/>
          <p:nvPr/>
        </p:nvSpPr>
        <p:spPr>
          <a:xfrm>
            <a:off x="777240" y="5074920"/>
            <a:ext cx="10607040" cy="822960"/>
          </a:xfrm>
          <a:prstGeom prst="rect">
            <a:avLst/>
          </a:prstGeom>
          <a:noFill/>
          <a:ln/>
        </p:spPr>
        <p:txBody>
          <a:bodyPr wrap="square" lIns="0" tIns="0" rIns="0" bIns="0" rtlCol="0" anchor="ctr"/>
          <a:lstStyle/>
          <a:p>
            <a:pPr indent="0" marL="0">
              <a:lnSpc>
                <a:spcPts val="2600"/>
              </a:lnSpc>
              <a:buNone/>
            </a:pPr>
            <a:r>
              <a:rPr lang="en-US" sz="1600" dirty="0">
                <a:solidFill>
                  <a:srgbClr val="FFFFFF"/>
                </a:solidFill>
                <a:latin typeface="Calibri" pitchFamily="34" charset="0"/>
                <a:ea typeface="Calibri" pitchFamily="34" charset="-122"/>
                <a:cs typeface="Calibri" pitchFamily="34" charset="-120"/>
              </a:rPr>
              <a:t>Absolvent: Avramescu Isaac Sebastian</a:t>
            </a:r>
            <a:endParaRPr lang="en-US" sz="1600" dirty="0"/>
          </a:p>
          <a:p>
            <a:pPr indent="0" marL="0">
              <a:lnSpc>
                <a:spcPts val="2600"/>
              </a:lnSpc>
              <a:buNone/>
            </a:pPr>
            <a:r>
              <a:rPr lang="en-US" sz="1600" dirty="0">
                <a:solidFill>
                  <a:srgbClr val="FFFFFF"/>
                </a:solidFill>
                <a:latin typeface="Calibri" pitchFamily="34" charset="0"/>
                <a:ea typeface="Calibri" pitchFamily="34" charset="-122"/>
                <a:cs typeface="Calibri" pitchFamily="34" charset="-120"/>
              </a:rPr>
              <a:t>Coordonator științific: Conf. Univ. Dr. Marius Iulian Mihăilescu</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MOTIVAȚIE</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Problema și soluția</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Găsirea unui profesor potrivit rămâne un proces informal, bazat pe cunoștințe și recomandări</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Un profesor care vrea să dea meditații nu are unde să își facă un profil ca să fie găsit</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Platformele generaliste nu structurează relația profesor-elev și nu păstrează un istoric pe fiecare colaborare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CourseHub: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un profil clar, de profesor sau de elev, cu nivel și materii de interes</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Căutare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după rol, nivel și materie, apoi conectare explicită prin cerere și acceptare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După acceptare,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comunicare prin chat în timp real, cu partajarea materialelor în conversație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CAPITOLELE 3 ȘI 4</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Tehnologii și arhitectură</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ASP.NET Core 8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MVC pentru aplicație, Razor Pages pentru fluxurile de autentificare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Entity Framework Core și SQL Server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schema evoluează exclusiv prin migrații</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ASP.NET Identity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roluri reale: User, Teach, Learn și Admin</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SignalR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chatul în timp real, peste WebSocket</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Google reCAPTCHA v2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protecția formularului de înregistrare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Bootstrap 5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peste care am construit un sistem propriu de stiluri</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Localizare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prin IStringLocalizer și fișiere de resurse .resx</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Fluxul unei cereri: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interfața web trimite acțiuni către controllere, care persistă datele prin EF Core; chatul folosește un canal separat, prin ChatHub</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4</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Modelul de date</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ApplicationUser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extinde IdentityUser cu Bio, Role, EducationLevel, TeachingLevel, Age, Gender, SelectedTopics, AvatarPath și BannedUntil</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Message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SenderId, ReceiverId, Content, Timestamp, IsRead, plus FilePath, FileName și FileSize pentru fișierele atașate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HireRequest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RequesterId (elevul), TargetId (profesorul), IsAccepted și RequestedAt</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Topic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Name și Description</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OtpCode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UserId, Code și ExpirationTime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Singura relație cu cheie externă reală este pe HireRequest; legătura cu materiile și cu codurile OTP e menținută la nivel de aplicație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Peste acestea se adaugă tabelele standard generate de ASP.NET Identity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5.3 ȘI 6.4</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Înregistrare securizată</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Formularul de înregistrare este protejat prin Google reCAPTCHA v2</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Token-ul este verificat exclusiv pe server, printr-un apel către Google, înainte de crearea contului</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Fail closed: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dacă cheia secretă nu este configurată, verificarea eșuează implicit și înregistrarea rămâne blocată</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După crearea contului se generează un cod OTP de 6 cifre, valabil 10 minute, trimis pe email</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Contul rămâne neconfirmat până la introducerea corectă a codului pe pagina de verificare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Același mecanism este reutilizat la schimbarea numelui de utilizator sau a adresei de email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5.4</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Profilul în trei pași</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Pasul 1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alegerea rolului: profesor (Teach) sau elev (Learn)</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Rolul ales este scris atât în câmpul Role al utilizatorului, cât și în tabela reală de roluri Identity</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Pasul 2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detaliile: vârstă, gen și nivelul potrivit rolului, de studii sau de predare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Pasul 3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 materiile de interes, cel mult trei, din lista gestionată de administrator</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Rolul este purtat de la un pas la altul printr-un câmp ascuns al formularului</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Fără acest câmp, aplicația salva mereu nivelul de predare, indiferent de rolul ales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5.5</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Căutare și cereri de colaborare</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Filtrarea utilizatorilor după nume, rol, nivel de experiență și materie, criteriile combinându-se între ele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Conturile de administrator sunt excluse întotdeauna din rezultate, indiferent de rolul lor</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Trimitere: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un elev trimite unui profesor o cerere de colaborare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Acceptare sau respingere: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profesorul decide din pagina proprie de cereri</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Anulare: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elevul își poate retrage cererea cât timp este în așteptare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Odată acceptată cererea, cei doi devin parteneri și pot iniția o conversație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5.6</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Mesageria în timp real</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Livrare instantanee: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ChatHub trimite mesajul direct destinatarului, prin SignalR</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Persistare separată: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în paralel, clientul trimite mesajul și către un endpoint API care îl salvează</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Separarea celor două căi păstrează istoricul chiar dacă destinatarul nu este conectat în acel moment</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Doar profesorii pot atașa fișiere, restricția fiind aplicată în endpoint, nu doar ascunsă din interfață</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Fișierele sunt validate prin listă albă de extensii și limită de dimensiune, iar numele salvat pe disc este generat aleator</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Un indicator de mesaje necitite în bara de navigare, actualizat prin interogare periodică</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5.7</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Panoul de administrare</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Întregul controller este protejat prin [Authorize(Roles = "Admin")], verificat de framework</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Gestionarea conturilor, cu afișarea rolurilor reale din Identity</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Promovarea și retrogradarea altor utilizatori la rolul de administrator</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Blocare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pentru 1 zi, 7 zile, 1 lună sau permanent, precum și deblocare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Ștergere cont,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împreună cu mesajele, cererile, codurile OTP și avatarul asociate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Moderare: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vizualizarea listei complete a mesajelor trimise de un utilizator</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Un administrator nu se poate retrograda, bloca sau șterge pe sine, iar niciunul nu poate fi blocat sau șters de un altul</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CAPITOLELE 6 ȘI 7</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Securitate și testare</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Parolele nu sunt stocate niciodată în clar, ci ca hash cu salt unic, prin ASP.NET Identity</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Autorizarea este verificată de framework prin roluri reale, nu doar ascunsă din interfață</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O conversație este permisă doar între utilizatori cu o colaborare acceptată, verificat pe server atât la afișarea istoricului, cât și în cele două endpoint-uri prin care se scrie un mesaj</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La persistare, expeditorul unui mesaj este suprascris întotdeauna cu identitatea utilizatorului autentificat</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Token antiforgery validat global, inclusiv prin antet HTTP pentru cererile care nu vin din formular</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Testare manuală structurată pe scenarii, cu date de test generate automat în mediul de dezvoltare</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Trei probleme găsite testând: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rolul netransmis în wizard, atributul [Authorize] lipsă pe pagina de colaborări, și o conversație care putea fi deschisă scriind identificatorul în URL</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77240" y="475488"/>
            <a:ext cx="10607040" cy="237744"/>
          </a:xfrm>
          <a:prstGeom prst="rect">
            <a:avLst/>
          </a:prstGeom>
          <a:noFill/>
          <a:ln/>
        </p:spPr>
        <p:txBody>
          <a:bodyPr wrap="square" lIns="0" tIns="0" rIns="0" bIns="0" rtlCol="0" anchor="ctr"/>
          <a:lstStyle/>
          <a:p>
            <a:pPr indent="0" marL="0">
              <a:buNone/>
            </a:pPr>
            <a:r>
              <a:rPr lang="en-US" sz="1100" b="1" spc="200" kern="0" dirty="0">
                <a:solidFill>
                  <a:srgbClr val="60A5FA"/>
                </a:solidFill>
                <a:latin typeface="Calibri" pitchFamily="34" charset="0"/>
                <a:ea typeface="Calibri" pitchFamily="34" charset="-122"/>
                <a:cs typeface="Calibri" pitchFamily="34" charset="-120"/>
              </a:rPr>
              <a:t>CAPITOLUL 8</a:t>
            </a:r>
            <a:endParaRPr lang="en-US" sz="1100" dirty="0"/>
          </a:p>
        </p:txBody>
      </p:sp>
      <p:sp>
        <p:nvSpPr>
          <p:cNvPr id="3" name="Text 1"/>
          <p:cNvSpPr txBox="1"/>
          <p:nvPr/>
        </p:nvSpPr>
        <p:spPr>
          <a:xfrm>
            <a:off x="777240" y="731520"/>
            <a:ext cx="10607040" cy="603504"/>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Concluzii și direcții de dezvoltare</a:t>
            </a:r>
            <a:endParaRPr lang="en-US" sz="3200" dirty="0"/>
          </a:p>
        </p:txBody>
      </p:sp>
      <p:sp>
        <p:nvSpPr>
          <p:cNvPr id="4" name="Text 2"/>
          <p:cNvSpPr txBox="1"/>
          <p:nvPr/>
        </p:nvSpPr>
        <p:spPr>
          <a:xfrm>
            <a:off x="960120" y="1691640"/>
            <a:ext cx="10332720" cy="4572000"/>
          </a:xfrm>
          <a:prstGeom prst="rect">
            <a:avLst/>
          </a:prstGeom>
          <a:noFill/>
          <a:ln/>
        </p:spPr>
        <p:txBody>
          <a:bodyPr wrap="square" lIns="0" tIns="0" rIns="0" bIns="0" rtlCol="0" anchor="ctr"/>
          <a:lstStyle/>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Aplicația acoperă tot parcursul unui utilizator: înregistrare cu OTP, completarea profilului, căutare, cerere de colaborare și chat în timp real cu partajare de fișiere</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În spate există un sistem real de roluri Identity, peste care am construit panoul de administrare și moderarea</a:t>
            </a:r>
            <a:endParaRPr lang="en-US" sz="1700" dirty="0"/>
          </a:p>
          <a:p>
            <a:pPr marL="342900" indent="-342900">
              <a:lnSpc>
                <a:spcPts val="2400"/>
              </a:lnSpc>
              <a:spcAft>
                <a:spcPts val="1100"/>
              </a:spcAft>
              <a:buSzPct val="100000"/>
              <a:buChar char="•"/>
            </a:pPr>
            <a:r>
              <a:rPr lang="en-US" sz="1700" dirty="0">
                <a:solidFill>
                  <a:srgbClr val="374151"/>
                </a:solidFill>
                <a:latin typeface="Calibri" pitchFamily="34" charset="0"/>
                <a:ea typeface="Calibri" pitchFamily="34" charset="-122"/>
                <a:cs typeface="Calibri" pitchFamily="34" charset="-120"/>
              </a:rPr>
              <a:t>Interfața este disponibilă integral în română și engleză</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Limitări: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nu am scris teste automate, sesiunea unui cont blocat rămâne activă până la deconectare, iar fișierele trimise se văd după reîncărcarea paginii</a:t>
            </a:r>
            <a:endParaRPr lang="en-US" sz="1700" dirty="0"/>
          </a:p>
          <a:p>
            <a:pPr marL="342900" indent="-342900">
              <a:lnSpc>
                <a:spcPts val="2400"/>
              </a:lnSpc>
              <a:spcAft>
                <a:spcPts val="1100"/>
              </a:spcAft>
              <a:buSzPct val="100000"/>
              <a:buChar char="•"/>
            </a:pPr>
            <a:r>
              <a:rPr lang="en-US" sz="1700" b="1" dirty="0">
                <a:solidFill>
                  <a:srgbClr val="1F2937"/>
                </a:solidFill>
                <a:latin typeface="Calibri" pitchFamily="34" charset="0"/>
                <a:ea typeface="Calibri" pitchFamily="34" charset="-122"/>
                <a:cs typeface="Calibri" pitchFamily="34" charset="-120"/>
              </a:rPr>
              <a:t>Direcții: </a:t>
            </a:r>
            <a:pPr indent="0" marL="0">
              <a:lnSpc>
                <a:spcPts val="2400"/>
              </a:lnSpc>
              <a:spcAft>
                <a:spcPts val="1100"/>
              </a:spcAft>
              <a:buNone/>
            </a:pPr>
            <a:r>
              <a:rPr lang="en-US" sz="1700" dirty="0">
                <a:solidFill>
                  <a:srgbClr val="374151"/>
                </a:solidFill>
                <a:latin typeface="Calibri" pitchFamily="34" charset="0"/>
                <a:ea typeface="Calibri" pitchFamily="34" charset="-122"/>
                <a:cs typeface="Calibri" pitchFamily="34" charset="-120"/>
              </a:rPr>
              <a:t>o suită de teste automate, invalidarea imediată a sesiunilor la blocare, livrarea fișierelor prin SignalR, publicarea în cloud, o bibliotecă de materiale per colaborare și un sistem de recomandare a partenerilor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777240" y="2606040"/>
            <a:ext cx="10607040" cy="8686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Vă mulțumesc pentru atenție</a:t>
            </a:r>
            <a:endParaRPr lang="en-US" sz="4000" dirty="0"/>
          </a:p>
        </p:txBody>
      </p:sp>
      <p:sp>
        <p:nvSpPr>
          <p:cNvPr id="3" name="Text 1"/>
          <p:cNvSpPr txBox="1"/>
          <p:nvPr/>
        </p:nvSpPr>
        <p:spPr>
          <a:xfrm>
            <a:off x="777240" y="3520440"/>
            <a:ext cx="10607040" cy="457200"/>
          </a:xfrm>
          <a:prstGeom prst="rect">
            <a:avLst/>
          </a:prstGeom>
          <a:noFill/>
          <a:ln/>
        </p:spPr>
        <p:txBody>
          <a:bodyPr wrap="square" lIns="0" tIns="0" rIns="0" bIns="0" rtlCol="0" anchor="ctr"/>
          <a:lstStyle/>
          <a:p>
            <a:pPr indent="0" marL="0">
              <a:buNone/>
            </a:pPr>
            <a:r>
              <a:rPr lang="en-US" sz="2200" dirty="0">
                <a:solidFill>
                  <a:srgbClr val="60A5FA"/>
                </a:solidFill>
                <a:latin typeface="Calibri" pitchFamily="34" charset="0"/>
                <a:ea typeface="Calibri" pitchFamily="34" charset="-122"/>
                <a:cs typeface="Calibri" pitchFamily="34" charset="-120"/>
              </a:rPr>
              <a:t>Întrebări?</a:t>
            </a:r>
            <a:endParaRPr lang="en-US" sz="2200" dirty="0"/>
          </a:p>
        </p:txBody>
      </p:sp>
      <p:sp>
        <p:nvSpPr>
          <p:cNvPr id="4" name="Text 2"/>
          <p:cNvSpPr txBox="1"/>
          <p:nvPr/>
        </p:nvSpPr>
        <p:spPr>
          <a:xfrm>
            <a:off x="777240" y="5760720"/>
            <a:ext cx="10607040" cy="27432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CourseHub  ·  Avramescu Isaac Sebastian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CourseHub - Lucrare de licenta</dc:title>
  <dc:subject>PptxGenJS Presentation</dc:subject>
  <dc:creator>Avramescu Isaac Sebastian</dc:creator>
  <cp:lastModifiedBy>Avramescu Isaac Sebastian</cp:lastModifiedBy>
  <cp:revision>1</cp:revision>
  <dcterms:created xsi:type="dcterms:W3CDTF">2026-09-07T15:47:55Z</dcterms:created>
  <dcterms:modified xsi:type="dcterms:W3CDTF">2026-09-07T15:47:55Z</dcterms:modified>
</cp:coreProperties>
</file>